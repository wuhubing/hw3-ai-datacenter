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5f09047da61480c" /><Relationship Type="http://schemas.openxmlformats.org/officeDocument/2006/relationships/extended-properties" Target="/docProps/app.xml" Id="Rc17aa1422de44e28" /><Relationship Type="http://schemas.openxmlformats.org/officeDocument/2006/relationships/officeDocument" Target="/ppt/presentation.xml" Id="Rc8cc8da5c5a34b0b" /></Relationships>
</file>

<file path=ppt/presentation.xml><?xml version="1.0" encoding="utf-8"?>
<p:presentation xmlns:p="http://schemas.openxmlformats.org/presentationml/2006/main">
  <p:sldMasterIdLst>
    <p:sldMasterId xmlns:r="http://schemas.openxmlformats.org/officeDocument/2006/relationships" id="2147483648" r:id="Rd59df2ff50bf4775"/>
  </p:sldMasterIdLst>
  <p:notesMasterIdLst>
    <p:notesMasterId xmlns:r="http://schemas.openxmlformats.org/officeDocument/2006/relationships" r:id="R3f2fa3324e2242a8"/>
  </p:notesMasterIdLst>
  <p:sldIdLst>
    <p:sldId xmlns:r="http://schemas.openxmlformats.org/officeDocument/2006/relationships" id="256" r:id="R7d028374fe3847e4"/>
    <p:sldId xmlns:r="http://schemas.openxmlformats.org/officeDocument/2006/relationships" id="257" r:id="R4b90a42b02874069"/>
    <p:sldId xmlns:r="http://schemas.openxmlformats.org/officeDocument/2006/relationships" id="258" r:id="R7e65233910c64a1d"/>
    <p:sldId xmlns:r="http://schemas.openxmlformats.org/officeDocument/2006/relationships" id="259" r:id="R07234db1358a42a1"/>
    <p:sldId xmlns:r="http://schemas.openxmlformats.org/officeDocument/2006/relationships" id="260" r:id="Rbf279057c09945d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bc99c9d76f43f9" /><Relationship Type="http://schemas.openxmlformats.org/officeDocument/2006/relationships/slideMaster" Target="/ppt/slideMasters/slideMaster1.xml" Id="Rd59df2ff50bf4775" /><Relationship Type="http://schemas.openxmlformats.org/officeDocument/2006/relationships/notesMaster" Target="/ppt/notesMasters/notesMaster1.xml" Id="R3f2fa3324e2242a8" /><Relationship Type="http://schemas.openxmlformats.org/officeDocument/2006/relationships/presProps" Target="/ppt/presProps.xml" Id="R153948f9ab744dc2" /><Relationship Type="http://schemas.openxmlformats.org/officeDocument/2006/relationships/tableStyles" Target="/ppt/tableStyles.xml" Id="R5d4c5900b2bb4d19" /><Relationship Type="http://schemas.openxmlformats.org/officeDocument/2006/relationships/slide" Target="/ppt/slides/slide1.xml" Id="R7d028374fe3847e4" /><Relationship Type="http://schemas.openxmlformats.org/officeDocument/2006/relationships/slide" Target="/ppt/slides/slide2.xml" Id="R4b90a42b02874069" /><Relationship Type="http://schemas.openxmlformats.org/officeDocument/2006/relationships/slide" Target="/ppt/slides/slide3.xml" Id="R7e65233910c64a1d" /><Relationship Type="http://schemas.openxmlformats.org/officeDocument/2006/relationships/slide" Target="/ppt/slides/slide4.xml" Id="R07234db1358a42a1" /><Relationship Type="http://schemas.openxmlformats.org/officeDocument/2006/relationships/slide" Target="/ppt/slides/slide5.xml" Id="Rbf279057c09945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93d9c26faf4d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2a9950941d4ab5" /><Relationship Type="http://schemas.openxmlformats.org/officeDocument/2006/relationships/notesMaster" Target="/ppt/notesMasters/notesMaster1.xml" Id="Rce9f1ba6f7e744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19d8c175b54010" /><Relationship Type="http://schemas.openxmlformats.org/officeDocument/2006/relationships/notesMaster" Target="/ppt/notesMasters/notesMaster1.xml" Id="R6378eb26dac548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179783983c041d8" /><Relationship Type="http://schemas.openxmlformats.org/officeDocument/2006/relationships/notesMaster" Target="/ppt/notesMasters/notesMaster1.xml" Id="R2aee0751191642a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ed78cb3c3e4659" /><Relationship Type="http://schemas.openxmlformats.org/officeDocument/2006/relationships/notesMaster" Target="/ppt/notesMasters/notesMaster1.xml" Id="Ra0077c126c3d425d"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acb7946e324071" /><Relationship Type="http://schemas.openxmlformats.org/officeDocument/2006/relationships/notesMaster" Target="/ppt/notesMasters/notesMaster1.xml" Id="R88f4f35f9a0542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0:00–0:50. Recommend a lease pilot and defer an irreversible 25 MW construction commitment. No member has signed a long-term commitment, and grid costs/date are unknown under the assignment. The site and model compare the US, China and Singapore. Massachusetts is a scenario assumption for a hypothetical US consortium, not a proven globally best location.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0:50–1:50. All inputs are illustrative constant USD, not vendor quotes. 10-year window, 8% real discount rate, no tax/residual, IT refresh in operating years 5 and 9. Demand is equal across strategies: roughly 71 million productive GPU-hours annually. Full-scale upfront facility/grid/IT is $830m. Rental is $3 per allocated GPU-hour before availability and efficiency adjustment. Sources: data/model-results.json and lib/model.ts in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1:50–2:50. Halving utilization raises owned cost from $3.69 to $7.27, while leased unit cost remains $3.37 under a flexible usage assumption. The half-use case halves productive output, but fixed staffing and maintenance remain and electricity declines less than half. A one-year grid delay increases build cost to $4.00 because bridge leases preserve the same demand. A real lease may have minimum commitments. Sources: deterministic model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2:50–3:50. The conditional first phase has 5 MW IT and 6.25 MW total power. Proposed two 8 MVA transformer paths should each carry total load at assumed PF .95. Five 2 MW generators provide 8 MW with one failed before derating. 48 hours needs 300 MWh and assumed fuel of 90,000 litres including reserve. Verify transfer, protection, generator derating, cooling, fuel permits and logistics. No renewable contribution is credited as firm backup. All quantities are concept calculations, not certified engineering.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3:50–5:00. Three findings could reverse the recommendation. First signed, benchmarked demand with large-cluster concurrency data. Second firm utility terms and verified resilience. Third comparable cloud and hardware offers with complete support and exit costs. Development equity bears early-stage risk. Construction debt follows signed commitments and grid terms. A member nonprofit owns the shell and electrical/cooling assets and contracts construction/operations. Published quotas, metering, smaller-institution teaching reservations and appeals guard against cross-subsidy. Ask the committee to approve a bounded evidence and lease-pilot stage, not the 25 MW capital commitment.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16596ff85645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8cde6fecea4a12" /><Relationship Type="http://schemas.openxmlformats.org/officeDocument/2006/relationships/slideLayout" Target="/ppt/slideLayouts/slideLayout1.xml" Id="R8db98af5f4d64d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b98af5f4d64d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b71087c25b540b0" /><Relationship Type="http://schemas.openxmlformats.org/officeDocument/2006/relationships/notesSlide" Target="/ppt/notesSlides/notesSlide1.xml" Id="R47e17cab9b534b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a5b812c3469433a" /><Relationship Type="http://schemas.openxmlformats.org/officeDocument/2006/relationships/chart" Target="/ppt/slides/charts/chart1.xml" Id="R7092f76c88c14354" /><Relationship Type="http://schemas.openxmlformats.org/officeDocument/2006/relationships/notesSlide" Target="/ppt/notesSlides/notesSlide2.xml" Id="Rf4c402c791874a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9b218210d144e43" /><Relationship Type="http://schemas.openxmlformats.org/officeDocument/2006/relationships/chart" Target="/ppt/slides/charts/chart2.xml" Id="R805b4f5f758a48ef" /><Relationship Type="http://schemas.openxmlformats.org/officeDocument/2006/relationships/notesSlide" Target="/ppt/notesSlides/notesSlide3.xml" Id="R0ecc78be407846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96b9a1077fa4fe5" /><Relationship Type="http://schemas.openxmlformats.org/officeDocument/2006/relationships/notesSlide" Target="/ppt/notesSlides/notesSlide4.xml" Id="Racdb1b96fab845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d66e514df5e4625" /><Relationship Type="http://schemas.openxmlformats.org/officeDocument/2006/relationships/notesSlide" Target="/ppt/notesSlides/notesSlide5.xml" Id="R0c5266609058430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USD / productive GPU-hour</c:v>
          </c:tx>
          <c:spPr>
            <a:solidFill xmlns:a="http://schemas.openxmlformats.org/drawingml/2006/main">
              <a:srgbClr val="31664C"/>
            </a:solidFill>
          </c:spPr>
          <c:cat>
            <c:strRef>
              <c:f>'Chart Data'!$A$2:$A$4</c:f>
              <c:strCache>
                <c:ptCount val="3"/>
                <c:pt idx="0">
                  <c:v>Build &amp; own</c:v>
                </c:pt>
                <c:pt idx="1">
                  <c:v>Lease capacity</c:v>
                </c:pt>
                <c:pt idx="2">
                  <c:v>Phased hybrid</c:v>
                </c:pt>
              </c:strCache>
            </c:strRef>
          </c:cat>
          <c:val>
            <c:numRef>
              <c:f>'Chart Data'!$B$2:$B$4</c:f>
              <c:numCache>
                <c:formatCode>General</c:formatCode>
                <c:ptCount val="3"/>
                <c:pt idx="0">
                  <c:v>3.69</c:v>
                </c:pt>
                <c:pt idx="1">
                  <c:v>3.37</c:v>
                </c:pt>
                <c:pt idx="2">
                  <c:v>3.46</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Base case</c:v>
          </c:tx>
          <c:spPr>
            <a:solidFill xmlns:a="http://schemas.openxmlformats.org/drawingml/2006/main">
              <a:srgbClr val="31664C"/>
            </a:solidFill>
          </c:spPr>
          <c:cat>
            <c:strRef>
              <c:f>'Chart Data'!$A$2:$A$4</c:f>
              <c:strCache>
                <c:ptCount val="3"/>
                <c:pt idx="0">
                  <c:v>Build &amp; own</c:v>
                </c:pt>
                <c:pt idx="1">
                  <c:v>Lease capacity</c:v>
                </c:pt>
                <c:pt idx="2">
                  <c:v>Phased hybrid</c:v>
                </c:pt>
              </c:strCache>
            </c:strRef>
          </c:cat>
          <c:val>
            <c:numRef>
              <c:f>'Chart Data'!$B$2:$B$4</c:f>
              <c:numCache>
                <c:formatCode>General</c:formatCode>
                <c:ptCount val="3"/>
                <c:pt idx="0">
                  <c:v>3.69</c:v>
                </c:pt>
                <c:pt idx="1">
                  <c:v>3.37</c:v>
                </c:pt>
                <c:pt idx="2">
                  <c:v>3.46</c:v>
                </c:pt>
              </c:numCache>
            </c:numRef>
          </c:val>
        </c:ser>
        <c:ser>
          <c:idx val="1"/>
          <c:order val="1"/>
          <c:tx>
            <c:v>Half utilization</c:v>
          </c:tx>
          <c:spPr>
            <a:solidFill xmlns:a="http://schemas.openxmlformats.org/drawingml/2006/main">
              <a:srgbClr val="A7B89B"/>
            </a:solidFill>
          </c:spPr>
          <c:cat>
            <c:strRef>
              <c:f>'Chart Data'!$C$2:$C$4</c:f>
              <c:strCache>
                <c:ptCount val="3"/>
                <c:pt idx="0">
                  <c:v>Build &amp; own</c:v>
                </c:pt>
                <c:pt idx="1">
                  <c:v>Lease capacity</c:v>
                </c:pt>
                <c:pt idx="2">
                  <c:v>Phased hybrid</c:v>
                </c:pt>
              </c:strCache>
            </c:strRef>
          </c:cat>
          <c:val>
            <c:numRef>
              <c:f>'Chart Data'!$D$2:$D$4</c:f>
              <c:numCache>
                <c:formatCode>General</c:formatCode>
                <c:ptCount val="3"/>
                <c:pt idx="0">
                  <c:v>7.27</c:v>
                </c:pt>
                <c:pt idx="1">
                  <c:v>3.37</c:v>
                </c:pt>
                <c:pt idx="2">
                  <c:v>4.36</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6CD557-EF9B-4947-BC9C-51843C3D30ED}"/>
              </a:ext>
            </a:extLst>
          </p:cNvPr>
          <p:cNvSpPr>
            <a:spLocks xmlns:a="http://schemas.openxmlformats.org/drawingml/2006/main" noGrp="1"/>
          </p:cNvSpPr>
          <p:nvPr/>
        </p:nvSpPr>
        <p:spPr>
          <a:xfrm xmlns:a="http://schemas.openxmlformats.org/drawingml/2006/main">
            <a:off x="619125"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193D30"/>
                </a:solidFill>
                <a:latin typeface="Helvetica Neue"/>
                <a:ea typeface="Helvetica Neue"/>
                <a:cs typeface="Helvetica Neue"/>
              </a:defRPr>
            </a:pPr>
            <a:r>
              <a:rPr sz="3225" b="0">
                <a:solidFill>
                  <a:srgbClr val="193D30"/>
                </a:solidFill>
                <a:latin typeface="Helvetica Neue"/>
                <a:ea typeface="Helvetica Neue"/>
                <a:cs typeface="Helvetica Neue"/>
              </a:rPr>
              <a:t>University AI infrastructure</a:t>
            </a:r>
          </a:p>
        </p:txBody>
      </p:sp>
      <p:sp>
        <p:nvSpPr>
          <p:cNvPr id="2" name="">
            <a:extLst xmlns:a="http://schemas.openxmlformats.org/drawingml/2006/main">
              <a:ext uri="{FF2B5EF4-FFF2-40B4-BE49-F238E27FC236}">
                <a16:creationId xmlns:a16="http://schemas.microsoft.com/office/drawing/2014/main" id="{390E9646-329D-4200-A8E1-BAF8FAB3E9ED}"/>
              </a:ext>
            </a:extLst>
          </p:cNvPr>
          <p:cNvSpPr>
            <a:spLocks xmlns:a="http://schemas.openxmlformats.org/drawingml/2006/main" noGrp="1"/>
          </p:cNvSpPr>
          <p:nvPr/>
        </p:nvSpPr>
        <p:spPr>
          <a:xfrm xmlns:a="http://schemas.openxmlformats.org/drawingml/2006/main">
            <a:off x="619125" y="64103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66C"/>
                </a:solidFill>
                <a:latin typeface="Helvetica Neue"/>
                <a:ea typeface="Helvetica Neue"/>
                <a:cs typeface="Helvetica Neue"/>
              </a:defRPr>
            </a:pPr>
            <a:r>
              <a:rPr sz="1200" b="0">
                <a:solidFill>
                  <a:srgbClr val="68766C"/>
                </a:solidFill>
                <a:latin typeface="Helvetica Neue"/>
                <a:ea typeface="Helvetica Neue"/>
                <a:cs typeface="Helvetica Neue"/>
              </a:rPr>
              <a:t>Compute Commons / University AI infrastructure / illustrative model</a:t>
            </a:r>
          </a:p>
        </p:txBody>
      </p:sp>
      <p:sp>
        <p:nvSpPr>
          <p:cNvPr id="3" name="">
            <a:extLst xmlns:a="http://schemas.openxmlformats.org/drawingml/2006/main">
              <a:ext uri="{FF2B5EF4-FFF2-40B4-BE49-F238E27FC236}">
                <a16:creationId xmlns:a16="http://schemas.microsoft.com/office/drawing/2014/main" id="{8F6BA90E-20C4-40AC-94F0-A260ADEF4106}"/>
              </a:ext>
            </a:extLst>
          </p:cNvPr>
          <p:cNvSpPr>
            <a:spLocks xmlns:a="http://schemas.openxmlformats.org/drawingml/2006/main" noGrp="1"/>
          </p:cNvSpPr>
          <p:nvPr/>
        </p:nvSpPr>
        <p:spPr>
          <a:xfrm xmlns:a="http://schemas.openxmlformats.org/drawingml/2006/main">
            <a:off x="619125" y="201930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0">
                <a:solidFill>
                  <a:srgbClr val="193D30"/>
                </a:solidFill>
                <a:latin typeface="Helvetica Neue"/>
                <a:ea typeface="Helvetica Neue"/>
                <a:cs typeface="Helvetica Neue"/>
              </a:defRPr>
            </a:pPr>
            <a:r>
              <a:rPr sz="4425" b="0">
                <a:solidFill>
                  <a:srgbClr val="193D30"/>
                </a:solidFill>
                <a:latin typeface="Helvetica Neue"/>
                <a:ea typeface="Helvetica Neue"/>
                <a:cs typeface="Helvetica Neue"/>
              </a:rPr>
              <a:t>A lease pilot preserves the option to build</a:t>
            </a:r>
          </a:p>
        </p:txBody>
      </p:sp>
      <p:sp>
        <p:nvSpPr>
          <p:cNvPr id="4" name="">
            <a:extLst xmlns:a="http://schemas.openxmlformats.org/drawingml/2006/main">
              <a:ext uri="{FF2B5EF4-FFF2-40B4-BE49-F238E27FC236}">
                <a16:creationId xmlns:a16="http://schemas.microsoft.com/office/drawing/2014/main" id="{455FF185-8240-4555-A683-37261BEA2B0C}"/>
              </a:ext>
            </a:extLst>
          </p:cNvPr>
          <p:cNvSpPr>
            <a:spLocks xmlns:a="http://schemas.openxmlformats.org/drawingml/2006/main" noGrp="1"/>
          </p:cNvSpPr>
          <p:nvPr/>
        </p:nvSpPr>
        <p:spPr>
          <a:xfrm xmlns:a="http://schemas.openxmlformats.org/drawingml/2006/main">
            <a:off x="619125" y="409575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68766C"/>
                </a:solidFill>
                <a:latin typeface="Helvetica Neue"/>
                <a:ea typeface="Helvetica Neue"/>
                <a:cs typeface="Helvetica Neue"/>
              </a:defRPr>
            </a:pPr>
            <a:r>
              <a:rPr sz="2175" b="0">
                <a:solidFill>
                  <a:srgbClr val="68766C"/>
                </a:solidFill>
                <a:latin typeface="Helvetica Neue"/>
                <a:ea typeface="Helvetica Neue"/>
                <a:cs typeface="Helvetica Neue"/>
              </a:rPr>
              <a:t>25 MW baseline facility</a:t>
            </a:r>
          </a:p>
          <a:p xmlns:a="http://schemas.openxmlformats.org/drawingml/2006/main">
            <a:pPr>
              <a:defRPr sz="2175" b="0">
                <a:solidFill>
                  <a:srgbClr val="68766C"/>
                </a:solidFill>
                <a:latin typeface="Helvetica Neue"/>
                <a:ea typeface="Helvetica Neue"/>
                <a:cs typeface="Helvetica Neue"/>
              </a:defRPr>
            </a:pPr>
            <a:r>
              <a:rPr sz="2175" b="0">
                <a:solidFill>
                  <a:srgbClr val="68766C"/>
                </a:solidFill>
                <a:latin typeface="Helvetica Neue"/>
                <a:ea typeface="Helvetica Neue"/>
                <a:cs typeface="Helvetica Neue"/>
              </a:rPr>
              <a:t>6.25 MW conditional first phase</a:t>
            </a:r>
          </a:p>
          <a:p xmlns:a="http://schemas.openxmlformats.org/drawingml/2006/main">
            <a:pPr>
              <a:defRPr sz="2175" b="0">
                <a:solidFill>
                  <a:srgbClr val="68766C"/>
                </a:solidFill>
                <a:latin typeface="Helvetica Neue"/>
                <a:ea typeface="Helvetica Neue"/>
                <a:cs typeface="Helvetica Neue"/>
              </a:defRPr>
            </a:pPr>
            <a:r>
              <a:rPr sz="2175" b="0">
                <a:solidFill>
                  <a:srgbClr val="68766C"/>
                </a:solidFill>
                <a:latin typeface="Helvetica Neue"/>
                <a:ea typeface="Helvetica Neue"/>
                <a:cs typeface="Helvetica Neue"/>
              </a:rPr>
              <a:t>No signed demand or firm grid terms</a:t>
            </a:r>
          </a:p>
        </p:txBody>
      </p:sp>
    </p:spTree>
    <p:extLst>
      <p:ext uri="{BB962C8B-B14F-4D97-AF65-F5344CB8AC3E}">
        <p14:creationId xmlns:p14="http://schemas.microsoft.com/office/powerpoint/2010/main" val="1284526003"/>
      </p:ext>
    </p:extLst>
  </p:cSld>
</p:sld>
</file>

<file path=ppt/slides/slide2.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24FF0A-1314-49E9-B4F7-14F88D9A15E1}"/>
              </a:ext>
            </a:extLst>
          </p:cNvPr>
          <p:cNvSpPr>
            <a:spLocks xmlns:a="http://schemas.openxmlformats.org/drawingml/2006/main" noGrp="1"/>
          </p:cNvSpPr>
          <p:nvPr/>
        </p:nvSpPr>
        <p:spPr>
          <a:xfrm xmlns:a="http://schemas.openxmlformats.org/drawingml/2006/main">
            <a:off x="619125"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193D30"/>
                </a:solidFill>
                <a:latin typeface="Helvetica Neue"/>
                <a:ea typeface="Helvetica Neue"/>
                <a:cs typeface="Helvetica Neue"/>
              </a:defRPr>
            </a:pPr>
            <a:r>
              <a:rPr sz="3225" b="0">
                <a:solidFill>
                  <a:srgbClr val="193D30"/>
                </a:solidFill>
                <a:latin typeface="Helvetica Neue"/>
                <a:ea typeface="Helvetica Neue"/>
                <a:cs typeface="Helvetica Neue"/>
              </a:rPr>
              <a:t>Base-case cost per productive GPU-hour</a:t>
            </a:r>
          </a:p>
        </p:txBody>
      </p:sp>
      <p:sp>
        <p:nvSpPr>
          <p:cNvPr id="2" name="">
            <a:extLst xmlns:a="http://schemas.openxmlformats.org/drawingml/2006/main">
              <a:ext uri="{FF2B5EF4-FFF2-40B4-BE49-F238E27FC236}">
                <a16:creationId xmlns:a16="http://schemas.microsoft.com/office/drawing/2014/main" id="{92922FFC-4018-483D-952F-9A4C33203F85}"/>
              </a:ext>
            </a:extLst>
          </p:cNvPr>
          <p:cNvSpPr>
            <a:spLocks xmlns:a="http://schemas.openxmlformats.org/drawingml/2006/main" noGrp="1"/>
          </p:cNvSpPr>
          <p:nvPr/>
        </p:nvSpPr>
        <p:spPr>
          <a:xfrm xmlns:a="http://schemas.openxmlformats.org/drawingml/2006/main">
            <a:off x="619125" y="64103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66C"/>
                </a:solidFill>
                <a:latin typeface="Helvetica Neue"/>
                <a:ea typeface="Helvetica Neue"/>
                <a:cs typeface="Helvetica Neue"/>
              </a:defRPr>
            </a:pPr>
            <a:r>
              <a:rPr sz="1200" b="0">
                <a:solidFill>
                  <a:srgbClr val="68766C"/>
                </a:solidFill>
                <a:latin typeface="Helvetica Neue"/>
                <a:ea typeface="Helvetica Neue"/>
                <a:cs typeface="Helvetica Neue"/>
              </a:rPr>
              <a:t>Compute Commons / University AI infrastructure / illustrative model</a:t>
            </a:r>
          </a:p>
        </p:txBody>
      </p:sp>
      <p:graphicFrame>
        <p:nvGraphicFramePr>
          <p:cNvPr id="9" name="Chart"/>
          <p:cNvGraphicFramePr/>
          <p:nvPr/>
        </p:nvGraphicFramePr>
        <p:xfrm>
          <a:off xmlns:a="http://schemas.openxmlformats.org/drawingml/2006/main" x="666750" y="1809750"/>
          <a:ext xmlns:a="http://schemas.openxmlformats.org/drawingml/2006/main" cx="7239000" cy="3905250"/>
        </p:xfrm>
        <a:graphic xmlns:a="http://schemas.openxmlformats.org/drawingml/2006/main">
          <a:graphicData uri="http://schemas.openxmlformats.org/drawingml/2006/chart">
            <c:chart xmlns:r="http://schemas.openxmlformats.org/officeDocument/2006/relationships" xmlns:c="http://schemas.openxmlformats.org/drawingml/2006/chart" r:id="R7092f76c88c14354"/>
          </a:graphicData>
        </a:graphic>
      </p:graphicFrame>
      <p:sp>
        <p:nvSpPr>
          <p:cNvPr id="4" name="">
            <a:extLst xmlns:a="http://schemas.openxmlformats.org/drawingml/2006/main">
              <a:ext uri="{FF2B5EF4-FFF2-40B4-BE49-F238E27FC236}">
                <a16:creationId xmlns:a16="http://schemas.microsoft.com/office/drawing/2014/main" id="{5F7341E8-55FB-4C06-85E6-C82292F7F3D7}"/>
              </a:ext>
            </a:extLst>
          </p:cNvPr>
          <p:cNvSpPr>
            <a:spLocks xmlns:a="http://schemas.openxmlformats.org/drawingml/2006/main" noGrp="1"/>
          </p:cNvSpPr>
          <p:nvPr/>
        </p:nvSpPr>
        <p:spPr>
          <a:xfrm xmlns:a="http://schemas.openxmlformats.org/drawingml/2006/main">
            <a:off x="8477250" y="233362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0">
                <a:solidFill>
                  <a:srgbClr val="193D30"/>
                </a:solidFill>
                <a:latin typeface="Helvetica Neue"/>
                <a:ea typeface="Helvetica Neue"/>
                <a:cs typeface="Helvetica Neue"/>
              </a:defRPr>
            </a:pPr>
            <a:r>
              <a:rPr sz="4650" b="0">
                <a:solidFill>
                  <a:srgbClr val="193D30"/>
                </a:solidFill>
                <a:latin typeface="Helvetica Neue"/>
                <a:ea typeface="Helvetica Neue"/>
                <a:cs typeface="Helvetica Neue"/>
              </a:rPr>
              <a:t>$3.37</a:t>
            </a:r>
          </a:p>
        </p:txBody>
      </p:sp>
      <p:sp>
        <p:nvSpPr>
          <p:cNvPr id="5" name="">
            <a:extLst xmlns:a="http://schemas.openxmlformats.org/drawingml/2006/main">
              <a:ext uri="{FF2B5EF4-FFF2-40B4-BE49-F238E27FC236}">
                <a16:creationId xmlns:a16="http://schemas.microsoft.com/office/drawing/2014/main" id="{76A5B90C-3EEA-4EF9-9ED5-F348E0B719AD}"/>
              </a:ext>
            </a:extLst>
          </p:cNvPr>
          <p:cNvSpPr>
            <a:spLocks xmlns:a="http://schemas.openxmlformats.org/drawingml/2006/main" noGrp="1"/>
          </p:cNvSpPr>
          <p:nvPr/>
        </p:nvSpPr>
        <p:spPr>
          <a:xfrm xmlns:a="http://schemas.openxmlformats.org/drawingml/2006/main">
            <a:off x="8429625" y="3352800"/>
            <a:ext cx="30956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766C"/>
                </a:solidFill>
                <a:latin typeface="Helvetica Neue"/>
                <a:ea typeface="Helvetica Neue"/>
                <a:cs typeface="Helvetica Neue"/>
              </a:defRPr>
            </a:pPr>
            <a:r>
              <a:rPr sz="1875" b="0">
                <a:solidFill>
                  <a:srgbClr val="68766C"/>
                </a:solidFill>
                <a:latin typeface="Helvetica Neue"/>
                <a:ea typeface="Helvetica Neue"/>
                <a:cs typeface="Helvetica Neue"/>
              </a:rPr>
              <a:t>Lease case</a:t>
            </a:r>
          </a:p>
          <a:p xmlns:a="http://schemas.openxmlformats.org/drawingml/2006/main">
            <a:r>
              <a:t/>
            </a:r>
          </a:p>
          <a:p xmlns:a="http://schemas.openxmlformats.org/drawingml/2006/main">
            <a:pPr>
              <a:defRPr sz="1875" b="0">
                <a:solidFill>
                  <a:srgbClr val="68766C"/>
                </a:solidFill>
                <a:latin typeface="Helvetica Neue"/>
                <a:ea typeface="Helvetica Neue"/>
                <a:cs typeface="Helvetica Neue"/>
              </a:defRPr>
            </a:pPr>
            <a:r>
              <a:rPr sz="1875" b="0">
                <a:solidFill>
                  <a:srgbClr val="68766C"/>
                </a:solidFill>
                <a:latin typeface="Helvetica Neue"/>
                <a:ea typeface="Helvetica Neue"/>
                <a:cs typeface="Helvetica Neue"/>
              </a:rPr>
              <a:t>$59.8m before opening</a:t>
            </a:r>
          </a:p>
          <a:p xmlns:a="http://schemas.openxmlformats.org/drawingml/2006/main">
            <a:pPr>
              <a:defRPr sz="1875" b="0">
                <a:solidFill>
                  <a:srgbClr val="68766C"/>
                </a:solidFill>
                <a:latin typeface="Helvetica Neue"/>
                <a:ea typeface="Helvetica Neue"/>
                <a:cs typeface="Helvetica Neue"/>
              </a:defRPr>
            </a:pPr>
            <a:r>
              <a:rPr sz="1875" b="0">
                <a:solidFill>
                  <a:srgbClr val="68766C"/>
                </a:solidFill>
                <a:latin typeface="Helvetica Neue"/>
                <a:ea typeface="Helvetica Neue"/>
                <a:cs typeface="Helvetica Neue"/>
              </a:rPr>
              <a:t>$239.1m annual opex</a:t>
            </a:r>
          </a:p>
        </p:txBody>
      </p:sp>
      <p:sp>
        <p:nvSpPr>
          <p:cNvPr id="6" name="">
            <a:extLst xmlns:a="http://schemas.openxmlformats.org/drawingml/2006/main">
              <a:ext uri="{FF2B5EF4-FFF2-40B4-BE49-F238E27FC236}">
                <a16:creationId xmlns:a16="http://schemas.microsoft.com/office/drawing/2014/main" id="{C6FCC893-751F-40C0-AC1E-8E1EB777B39E}"/>
              </a:ext>
            </a:extLst>
          </p:cNvPr>
          <p:cNvSpPr>
            <a:spLocks xmlns:a="http://schemas.openxmlformats.org/drawingml/2006/main" noGrp="1"/>
          </p:cNvSpPr>
          <p:nvPr/>
        </p:nvSpPr>
        <p:spPr>
          <a:xfrm xmlns:a="http://schemas.openxmlformats.org/drawingml/2006/main">
            <a:off x="619125" y="58864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8766C"/>
                </a:solidFill>
                <a:latin typeface="Helvetica Neue"/>
                <a:ea typeface="Helvetica Neue"/>
                <a:cs typeface="Helvetica Neue"/>
              </a:defRPr>
            </a:pPr>
            <a:r>
              <a:rPr sz="1425" b="0">
                <a:solidFill>
                  <a:srgbClr val="68766C"/>
                </a:solidFill>
                <a:latin typeface="Helvetica Neue"/>
                <a:ea typeface="Helvetica Neue"/>
                <a:cs typeface="Helvetica Neue"/>
              </a:rPr>
              <a:t>Assumed prices and demand. Unit cost includes lifecycle capital costs.</a:t>
            </a:r>
          </a:p>
        </p:txBody>
      </p:sp>
    </p:spTree>
    <p:extLst>
      <p:ext uri="{BB962C8B-B14F-4D97-AF65-F5344CB8AC3E}">
        <p14:creationId xmlns:p14="http://schemas.microsoft.com/office/powerpoint/2010/main" val="1525282391"/>
      </p:ext>
    </p:extLst>
  </p:cSld>
</p:sld>
</file>

<file path=ppt/slides/slide3.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1CE15DD-503B-43C5-B482-A92E5ED9F60A}"/>
              </a:ext>
            </a:extLst>
          </p:cNvPr>
          <p:cNvSpPr>
            <a:spLocks xmlns:a="http://schemas.openxmlformats.org/drawingml/2006/main" noGrp="1"/>
          </p:cNvSpPr>
          <p:nvPr/>
        </p:nvSpPr>
        <p:spPr>
          <a:xfrm xmlns:a="http://schemas.openxmlformats.org/drawingml/2006/main">
            <a:off x="619125"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193D30"/>
                </a:solidFill>
                <a:latin typeface="Helvetica Neue"/>
                <a:ea typeface="Helvetica Neue"/>
                <a:cs typeface="Helvetica Neue"/>
              </a:defRPr>
            </a:pPr>
            <a:r>
              <a:rPr sz="3225" b="0">
                <a:solidFill>
                  <a:srgbClr val="193D30"/>
                </a:solidFill>
                <a:latin typeface="Helvetica Neue"/>
                <a:ea typeface="Helvetica Neue"/>
                <a:cs typeface="Helvetica Neue"/>
              </a:rPr>
              <a:t>Low utilization raises ownership cost</a:t>
            </a:r>
          </a:p>
        </p:txBody>
      </p:sp>
      <p:sp>
        <p:nvSpPr>
          <p:cNvPr id="2" name="">
            <a:extLst xmlns:a="http://schemas.openxmlformats.org/drawingml/2006/main">
              <a:ext uri="{FF2B5EF4-FFF2-40B4-BE49-F238E27FC236}">
                <a16:creationId xmlns:a16="http://schemas.microsoft.com/office/drawing/2014/main" id="{6074D89E-A839-4168-BED1-5F63ACF85371}"/>
              </a:ext>
            </a:extLst>
          </p:cNvPr>
          <p:cNvSpPr>
            <a:spLocks xmlns:a="http://schemas.openxmlformats.org/drawingml/2006/main" noGrp="1"/>
          </p:cNvSpPr>
          <p:nvPr/>
        </p:nvSpPr>
        <p:spPr>
          <a:xfrm xmlns:a="http://schemas.openxmlformats.org/drawingml/2006/main">
            <a:off x="619125" y="64103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66C"/>
                </a:solidFill>
                <a:latin typeface="Helvetica Neue"/>
                <a:ea typeface="Helvetica Neue"/>
                <a:cs typeface="Helvetica Neue"/>
              </a:defRPr>
            </a:pPr>
            <a:r>
              <a:rPr sz="1200" b="0">
                <a:solidFill>
                  <a:srgbClr val="68766C"/>
                </a:solidFill>
                <a:latin typeface="Helvetica Neue"/>
                <a:ea typeface="Helvetica Neue"/>
                <a:cs typeface="Helvetica Neue"/>
              </a:rPr>
              <a:t>Compute Commons / University AI infrastructure / illustrative model</a:t>
            </a:r>
          </a:p>
        </p:txBody>
      </p:sp>
      <p:graphicFrame>
        <p:nvGraphicFramePr>
          <p:cNvPr id="7" name="Chart"/>
          <p:cNvGraphicFramePr/>
          <p:nvPr/>
        </p:nvGraphicFramePr>
        <p:xfrm>
          <a:off xmlns:a="http://schemas.openxmlformats.org/drawingml/2006/main" x="619125" y="1714500"/>
          <a:ext xmlns:a="http://schemas.openxmlformats.org/drawingml/2006/main" cx="10810875" cy="3905250"/>
        </p:xfrm>
        <a:graphic xmlns:a="http://schemas.openxmlformats.org/drawingml/2006/main">
          <a:graphicData uri="http://schemas.openxmlformats.org/drawingml/2006/chart">
            <c:chart xmlns:r="http://schemas.openxmlformats.org/officeDocument/2006/relationships" xmlns:c="http://schemas.openxmlformats.org/drawingml/2006/chart" r:id="R805b4f5f758a48ef"/>
          </a:graphicData>
        </a:graphic>
      </p:graphicFrame>
      <p:sp>
        <p:nvSpPr>
          <p:cNvPr id="4" name="">
            <a:extLst xmlns:a="http://schemas.openxmlformats.org/drawingml/2006/main">
              <a:ext uri="{FF2B5EF4-FFF2-40B4-BE49-F238E27FC236}">
                <a16:creationId xmlns:a16="http://schemas.microsoft.com/office/drawing/2014/main" id="{6775A6D8-0B2E-4CAA-944B-E8D48ECB131A}"/>
              </a:ext>
            </a:extLst>
          </p:cNvPr>
          <p:cNvSpPr>
            <a:spLocks xmlns:a="http://schemas.openxmlformats.org/drawingml/2006/main" noGrp="1"/>
          </p:cNvSpPr>
          <p:nvPr/>
        </p:nvSpPr>
        <p:spPr>
          <a:xfrm xmlns:a="http://schemas.openxmlformats.org/drawingml/2006/main">
            <a:off x="619125" y="5857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8766C"/>
                </a:solidFill>
                <a:latin typeface="Helvetica Neue"/>
                <a:ea typeface="Helvetica Neue"/>
                <a:cs typeface="Helvetica Neue"/>
              </a:defRPr>
            </a:pPr>
            <a:r>
              <a:rPr sz="1500" b="0">
                <a:solidFill>
                  <a:srgbClr val="68766C"/>
                </a:solidFill>
                <a:latin typeface="Helvetica Neue"/>
                <a:ea typeface="Helvetica Neue"/>
                <a:cs typeface="Helvetica Neue"/>
              </a:rPr>
              <a:t>USD per productive GPU-hour. Fixed demand commitments could change the lease result.</a:t>
            </a:r>
          </a:p>
        </p:txBody>
      </p:sp>
    </p:spTree>
    <p:extLst>
      <p:ext uri="{BB962C8B-B14F-4D97-AF65-F5344CB8AC3E}">
        <p14:creationId xmlns:p14="http://schemas.microsoft.com/office/powerpoint/2010/main" val="343078659"/>
      </p:ext>
    </p:extLst>
  </p:cSld>
</p:sld>
</file>

<file path=ppt/slides/slide4.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078E6E0-7227-45A3-AB0B-A3EA34AEC193}"/>
              </a:ext>
            </a:extLst>
          </p:cNvPr>
          <p:cNvSpPr>
            <a:spLocks xmlns:a="http://schemas.openxmlformats.org/drawingml/2006/main" noGrp="1"/>
          </p:cNvSpPr>
          <p:nvPr/>
        </p:nvSpPr>
        <p:spPr>
          <a:xfrm xmlns:a="http://schemas.openxmlformats.org/drawingml/2006/main">
            <a:off x="619125"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193D30"/>
                </a:solidFill>
                <a:latin typeface="Helvetica Neue"/>
                <a:ea typeface="Helvetica Neue"/>
                <a:cs typeface="Helvetica Neue"/>
              </a:defRPr>
            </a:pPr>
            <a:r>
              <a:rPr sz="3225" b="0">
                <a:solidFill>
                  <a:srgbClr val="193D30"/>
                </a:solidFill>
                <a:latin typeface="Helvetica Neue"/>
                <a:ea typeface="Helvetica Neue"/>
                <a:cs typeface="Helvetica Neue"/>
              </a:rPr>
              <a:t>First-phase resilience remains unverified</a:t>
            </a:r>
          </a:p>
        </p:txBody>
      </p:sp>
      <p:sp>
        <p:nvSpPr>
          <p:cNvPr id="2" name="">
            <a:extLst xmlns:a="http://schemas.openxmlformats.org/drawingml/2006/main">
              <a:ext uri="{FF2B5EF4-FFF2-40B4-BE49-F238E27FC236}">
                <a16:creationId xmlns:a16="http://schemas.microsoft.com/office/drawing/2014/main" id="{04FE93B0-6E3D-4879-802E-ECE0FC66D5EE}"/>
              </a:ext>
            </a:extLst>
          </p:cNvPr>
          <p:cNvSpPr>
            <a:spLocks xmlns:a="http://schemas.openxmlformats.org/drawingml/2006/main" noGrp="1"/>
          </p:cNvSpPr>
          <p:nvPr/>
        </p:nvSpPr>
        <p:spPr>
          <a:xfrm xmlns:a="http://schemas.openxmlformats.org/drawingml/2006/main">
            <a:off x="619125" y="64103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66C"/>
                </a:solidFill>
                <a:latin typeface="Helvetica Neue"/>
                <a:ea typeface="Helvetica Neue"/>
                <a:cs typeface="Helvetica Neue"/>
              </a:defRPr>
            </a:pPr>
            <a:r>
              <a:rPr sz="1200" b="0">
                <a:solidFill>
                  <a:srgbClr val="68766C"/>
                </a:solidFill>
                <a:latin typeface="Helvetica Neue"/>
                <a:ea typeface="Helvetica Neue"/>
                <a:cs typeface="Helvetica Neue"/>
              </a:rPr>
              <a:t>Compute Commons / University AI infrastructure / illustrative model</a:t>
            </a:r>
          </a:p>
        </p:txBody>
      </p:sp>
      <p:sp>
        <p:nvSpPr>
          <p:cNvPr id="3" name="">
            <a:extLst xmlns:a="http://schemas.openxmlformats.org/drawingml/2006/main">
              <a:ext uri="{FF2B5EF4-FFF2-40B4-BE49-F238E27FC236}">
                <a16:creationId xmlns:a16="http://schemas.microsoft.com/office/drawing/2014/main" id="{E82F1F86-169D-4AB1-A751-597953F6B03F}"/>
              </a:ext>
            </a:extLst>
          </p:cNvPr>
          <p:cNvSpPr>
            <a:spLocks xmlns:a="http://schemas.openxmlformats.org/drawingml/2006/main" noGrp="1"/>
          </p:cNvSpPr>
          <p:nvPr/>
        </p:nvSpPr>
        <p:spPr>
          <a:xfrm xmlns:a="http://schemas.openxmlformats.org/drawingml/2006/main">
            <a:off x="619125" y="20955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25" b="0">
                <a:solidFill>
                  <a:srgbClr val="193D30"/>
                </a:solidFill>
                <a:latin typeface="Helvetica Neue"/>
                <a:ea typeface="Helvetica Neue"/>
                <a:cs typeface="Helvetica Neue"/>
              </a:defRPr>
            </a:pPr>
            <a:r>
              <a:rPr sz="5025" b="0">
                <a:solidFill>
                  <a:srgbClr val="193D30"/>
                </a:solidFill>
                <a:latin typeface="Helvetica Neue"/>
                <a:ea typeface="Helvetica Neue"/>
                <a:cs typeface="Helvetica Neue"/>
              </a:rPr>
              <a:t>6.25 MW</a:t>
            </a:r>
          </a:p>
        </p:txBody>
      </p:sp>
      <p:sp>
        <p:nvSpPr>
          <p:cNvPr id="4" name="">
            <a:extLst xmlns:a="http://schemas.openxmlformats.org/drawingml/2006/main">
              <a:ext uri="{FF2B5EF4-FFF2-40B4-BE49-F238E27FC236}">
                <a16:creationId xmlns:a16="http://schemas.microsoft.com/office/drawing/2014/main" id="{DCCB6E97-CBF5-47FB-A185-908FA45A3FF2}"/>
              </a:ext>
            </a:extLst>
          </p:cNvPr>
          <p:cNvSpPr>
            <a:spLocks xmlns:a="http://schemas.openxmlformats.org/drawingml/2006/main" noGrp="1"/>
          </p:cNvSpPr>
          <p:nvPr/>
        </p:nvSpPr>
        <p:spPr>
          <a:xfrm xmlns:a="http://schemas.openxmlformats.org/drawingml/2006/main">
            <a:off x="619125" y="308610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68766C"/>
                </a:solidFill>
                <a:latin typeface="Helvetica Neue"/>
                <a:ea typeface="Helvetica Neue"/>
                <a:cs typeface="Helvetica Neue"/>
              </a:defRPr>
            </a:pPr>
            <a:r>
              <a:rPr sz="2100" b="0">
                <a:solidFill>
                  <a:srgbClr val="68766C"/>
                </a:solidFill>
                <a:latin typeface="Helvetica Neue"/>
                <a:ea typeface="Helvetica Neue"/>
                <a:cs typeface="Helvetica Neue"/>
              </a:rPr>
              <a:t>Conditional total site demand</a:t>
            </a:r>
          </a:p>
        </p:txBody>
      </p:sp>
      <p:sp>
        <p:nvSpPr>
          <p:cNvPr id="5" name="">
            <a:extLst xmlns:a="http://schemas.openxmlformats.org/drawingml/2006/main">
              <a:ext uri="{FF2B5EF4-FFF2-40B4-BE49-F238E27FC236}">
                <a16:creationId xmlns:a16="http://schemas.microsoft.com/office/drawing/2014/main" id="{E700AAFB-36E8-4F20-8796-E7E5C3748ACA}"/>
              </a:ext>
            </a:extLst>
          </p:cNvPr>
          <p:cNvSpPr>
            <a:spLocks xmlns:a="http://schemas.openxmlformats.org/drawingml/2006/main" noGrp="1"/>
          </p:cNvSpPr>
          <p:nvPr/>
        </p:nvSpPr>
        <p:spPr>
          <a:xfrm xmlns:a="http://schemas.openxmlformats.org/drawingml/2006/main">
            <a:off x="6572250" y="20955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25" b="0">
                <a:solidFill>
                  <a:srgbClr val="193D30"/>
                </a:solidFill>
                <a:latin typeface="Helvetica Neue"/>
                <a:ea typeface="Helvetica Neue"/>
                <a:cs typeface="Helvetica Neue"/>
              </a:defRPr>
            </a:pPr>
            <a:r>
              <a:rPr sz="5025" b="0">
                <a:solidFill>
                  <a:srgbClr val="193D30"/>
                </a:solidFill>
                <a:latin typeface="Helvetica Neue"/>
                <a:ea typeface="Helvetica Neue"/>
                <a:cs typeface="Helvetica Neue"/>
              </a:rPr>
              <a:t>300 MWh</a:t>
            </a:r>
          </a:p>
        </p:txBody>
      </p:sp>
      <p:sp>
        <p:nvSpPr>
          <p:cNvPr id="6" name="">
            <a:extLst xmlns:a="http://schemas.openxmlformats.org/drawingml/2006/main">
              <a:ext uri="{FF2B5EF4-FFF2-40B4-BE49-F238E27FC236}">
                <a16:creationId xmlns:a16="http://schemas.microsoft.com/office/drawing/2014/main" id="{0E900C18-DA85-4689-876C-9E009D562FFC}"/>
              </a:ext>
            </a:extLst>
          </p:cNvPr>
          <p:cNvSpPr>
            <a:spLocks xmlns:a="http://schemas.openxmlformats.org/drawingml/2006/main" noGrp="1"/>
          </p:cNvSpPr>
          <p:nvPr/>
        </p:nvSpPr>
        <p:spPr>
          <a:xfrm xmlns:a="http://schemas.openxmlformats.org/drawingml/2006/main">
            <a:off x="6572250" y="30861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68766C"/>
                </a:solidFill>
                <a:latin typeface="Helvetica Neue"/>
                <a:ea typeface="Helvetica Neue"/>
                <a:cs typeface="Helvetica Neue"/>
              </a:defRPr>
            </a:pPr>
            <a:r>
              <a:rPr sz="2100" b="0">
                <a:solidFill>
                  <a:srgbClr val="68766C"/>
                </a:solidFill>
                <a:latin typeface="Helvetica Neue"/>
                <a:ea typeface="Helvetica Neue"/>
                <a:cs typeface="Helvetica Neue"/>
              </a:rPr>
              <a:t>Energy for 48 hours at full load</a:t>
            </a:r>
          </a:p>
        </p:txBody>
      </p:sp>
      <p:sp>
        <p:nvSpPr>
          <p:cNvPr id="7" name="">
            <a:extLst xmlns:a="http://schemas.openxmlformats.org/drawingml/2006/main">
              <a:ext uri="{FF2B5EF4-FFF2-40B4-BE49-F238E27FC236}">
                <a16:creationId xmlns:a16="http://schemas.microsoft.com/office/drawing/2014/main" id="{88EA7E41-D753-49FA-A076-5F9194C0952E}"/>
              </a:ext>
            </a:extLst>
          </p:cNvPr>
          <p:cNvSpPr>
            <a:spLocks xmlns:a="http://schemas.openxmlformats.org/drawingml/2006/main" noGrp="1"/>
          </p:cNvSpPr>
          <p:nvPr/>
        </p:nvSpPr>
        <p:spPr>
          <a:xfrm xmlns:a="http://schemas.openxmlformats.org/drawingml/2006/main">
            <a:off x="619125" y="43815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93D30"/>
                </a:solidFill>
                <a:latin typeface="Helvetica Neue"/>
                <a:ea typeface="Helvetica Neue"/>
                <a:cs typeface="Helvetica Neue"/>
              </a:defRPr>
            </a:pPr>
            <a:r>
              <a:rPr sz="2175" b="0">
                <a:solidFill>
                  <a:srgbClr val="193D30"/>
                </a:solidFill>
                <a:latin typeface="Helvetica Neue"/>
                <a:ea typeface="Helvetica Neue"/>
                <a:cs typeface="Helvetica Neue"/>
              </a:rPr>
              <a:t>One failed transformer: transfer to the independent path</a:t>
            </a:r>
          </a:p>
          <a:p xmlns:a="http://schemas.openxmlformats.org/drawingml/2006/main">
            <a:pPr>
              <a:defRPr sz="2175" b="0">
                <a:solidFill>
                  <a:srgbClr val="193D30"/>
                </a:solidFill>
                <a:latin typeface="Helvetica Neue"/>
                <a:ea typeface="Helvetica Neue"/>
                <a:cs typeface="Helvetica Neue"/>
              </a:defRPr>
            </a:pPr>
            <a:r>
              <a:rPr sz="2175" b="0">
                <a:solidFill>
                  <a:srgbClr val="193D30"/>
                </a:solidFill>
                <a:latin typeface="Helvetica Neue"/>
                <a:ea typeface="Helvetica Neue"/>
                <a:cs typeface="Helvetica Neue"/>
              </a:rPr>
              <a:t>One failed generator: four remaining units must carry load</a:t>
            </a:r>
          </a:p>
          <a:p xmlns:a="http://schemas.openxmlformats.org/drawingml/2006/main">
            <a:pPr>
              <a:defRPr sz="2175" b="0">
                <a:solidFill>
                  <a:srgbClr val="193D30"/>
                </a:solidFill>
                <a:latin typeface="Helvetica Neue"/>
                <a:ea typeface="Helvetica Neue"/>
                <a:cs typeface="Helvetica Neue"/>
              </a:defRPr>
            </a:pPr>
            <a:r>
              <a:rPr sz="2175" b="0">
                <a:solidFill>
                  <a:srgbClr val="193D30"/>
                </a:solidFill>
                <a:latin typeface="Helvetica Neue"/>
                <a:ea typeface="Helvetica Neue"/>
                <a:cs typeface="Helvetica Neue"/>
              </a:rPr>
              <a:t>Cooling and fuel logistics remain critical dependencies</a:t>
            </a:r>
          </a:p>
        </p:txBody>
      </p:sp>
    </p:spTree>
    <p:extLst>
      <p:ext uri="{BB962C8B-B14F-4D97-AF65-F5344CB8AC3E}">
        <p14:creationId xmlns:p14="http://schemas.microsoft.com/office/powerpoint/2010/main" val="1614333276"/>
      </p:ext>
    </p:extLst>
  </p:cSld>
</p:sld>
</file>

<file path=ppt/slides/slide5.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C00C1C3-A41C-48F6-B7A0-ECA15C47527B}"/>
              </a:ext>
            </a:extLst>
          </p:cNvPr>
          <p:cNvSpPr>
            <a:spLocks xmlns:a="http://schemas.openxmlformats.org/drawingml/2006/main" noGrp="1"/>
          </p:cNvSpPr>
          <p:nvPr/>
        </p:nvSpPr>
        <p:spPr>
          <a:xfrm xmlns:a="http://schemas.openxmlformats.org/drawingml/2006/main">
            <a:off x="619125" y="4953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193D30"/>
                </a:solidFill>
                <a:latin typeface="Helvetica Neue"/>
                <a:ea typeface="Helvetica Neue"/>
                <a:cs typeface="Helvetica Neue"/>
              </a:defRPr>
            </a:pPr>
            <a:r>
              <a:rPr sz="3225" b="0">
                <a:solidFill>
                  <a:srgbClr val="193D30"/>
                </a:solidFill>
                <a:latin typeface="Helvetica Neue"/>
                <a:ea typeface="Helvetica Neue"/>
                <a:cs typeface="Helvetica Neue"/>
              </a:rPr>
              <a:t>Evidence needed before construction</a:t>
            </a:r>
          </a:p>
        </p:txBody>
      </p:sp>
      <p:sp>
        <p:nvSpPr>
          <p:cNvPr id="2" name="">
            <a:extLst xmlns:a="http://schemas.openxmlformats.org/drawingml/2006/main">
              <a:ext uri="{FF2B5EF4-FFF2-40B4-BE49-F238E27FC236}">
                <a16:creationId xmlns:a16="http://schemas.microsoft.com/office/drawing/2014/main" id="{32480627-269B-4BD6-9F7B-EA31F1EF48B6}"/>
              </a:ext>
            </a:extLst>
          </p:cNvPr>
          <p:cNvSpPr>
            <a:spLocks xmlns:a="http://schemas.openxmlformats.org/drawingml/2006/main" noGrp="1"/>
          </p:cNvSpPr>
          <p:nvPr/>
        </p:nvSpPr>
        <p:spPr>
          <a:xfrm xmlns:a="http://schemas.openxmlformats.org/drawingml/2006/main">
            <a:off x="619125" y="64103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766C"/>
                </a:solidFill>
                <a:latin typeface="Helvetica Neue"/>
                <a:ea typeface="Helvetica Neue"/>
                <a:cs typeface="Helvetica Neue"/>
              </a:defRPr>
            </a:pPr>
            <a:r>
              <a:rPr sz="1200" b="0">
                <a:solidFill>
                  <a:srgbClr val="68766C"/>
                </a:solidFill>
                <a:latin typeface="Helvetica Neue"/>
                <a:ea typeface="Helvetica Neue"/>
                <a:cs typeface="Helvetica Neue"/>
              </a:rPr>
              <a:t>Compute Commons / University AI infrastructure / illustrative model</a:t>
            </a:r>
          </a:p>
        </p:txBody>
      </p:sp>
      <p:sp>
        <p:nvSpPr>
          <p:cNvPr id="3" name="">
            <a:extLst xmlns:a="http://schemas.openxmlformats.org/drawingml/2006/main">
              <a:ext uri="{FF2B5EF4-FFF2-40B4-BE49-F238E27FC236}">
                <a16:creationId xmlns:a16="http://schemas.microsoft.com/office/drawing/2014/main" id="{E5D027CF-838D-406A-B468-12DEA8E603C8}"/>
              </a:ext>
            </a:extLst>
          </p:cNvPr>
          <p:cNvSpPr>
            <a:spLocks xmlns:a="http://schemas.openxmlformats.org/drawingml/2006/main" noGrp="1"/>
          </p:cNvSpPr>
          <p:nvPr/>
        </p:nvSpPr>
        <p:spPr>
          <a:xfrm xmlns:a="http://schemas.openxmlformats.org/drawingml/2006/main">
            <a:off x="619125" y="185737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93D30"/>
                </a:solidFill>
                <a:latin typeface="Helvetica Neue"/>
                <a:ea typeface="Helvetica Neue"/>
                <a:cs typeface="Helvetica Neue"/>
              </a:defRPr>
            </a:pPr>
            <a:r>
              <a:rPr sz="2550" b="1">
                <a:solidFill>
                  <a:srgbClr val="193D30"/>
                </a:solidFill>
                <a:latin typeface="Helvetica Neue"/>
                <a:ea typeface="Helvetica Neue"/>
                <a:cs typeface="Helvetica Neue"/>
              </a:rPr>
              <a:t>Signed demand</a:t>
            </a:r>
          </a:p>
        </p:txBody>
      </p:sp>
      <p:sp>
        <p:nvSpPr>
          <p:cNvPr id="4" name="">
            <a:extLst xmlns:a="http://schemas.openxmlformats.org/drawingml/2006/main">
              <a:ext uri="{FF2B5EF4-FFF2-40B4-BE49-F238E27FC236}">
                <a16:creationId xmlns:a16="http://schemas.microsoft.com/office/drawing/2014/main" id="{9ED33482-ECE2-4EDD-9BA0-3B2FDFDB7005}"/>
              </a:ext>
            </a:extLst>
          </p:cNvPr>
          <p:cNvSpPr>
            <a:spLocks xmlns:a="http://schemas.openxmlformats.org/drawingml/2006/main" noGrp="1"/>
          </p:cNvSpPr>
          <p:nvPr/>
        </p:nvSpPr>
        <p:spPr>
          <a:xfrm xmlns:a="http://schemas.openxmlformats.org/drawingml/2006/main">
            <a:off x="619125" y="2524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8766C"/>
                </a:solidFill>
                <a:latin typeface="Helvetica Neue"/>
                <a:ea typeface="Helvetica Neue"/>
                <a:cs typeface="Helvetica Neue"/>
              </a:defRPr>
            </a:pPr>
            <a:r>
              <a:rPr sz="2025" b="0">
                <a:solidFill>
                  <a:srgbClr val="68766C"/>
                </a:solidFill>
                <a:latin typeface="Helvetica Neue"/>
                <a:ea typeface="Helvetica Neue"/>
                <a:cs typeface="Helvetica Neue"/>
              </a:rPr>
              <a:t>GPU-hour commitments and measured job traces</a:t>
            </a:r>
          </a:p>
        </p:txBody>
      </p:sp>
      <p:sp>
        <p:nvSpPr>
          <p:cNvPr id="5" name="">
            <a:extLst xmlns:a="http://schemas.openxmlformats.org/drawingml/2006/main">
              <a:ext uri="{FF2B5EF4-FFF2-40B4-BE49-F238E27FC236}">
                <a16:creationId xmlns:a16="http://schemas.microsoft.com/office/drawing/2014/main" id="{3406E409-1947-4332-8C10-856C843C7406}"/>
              </a:ext>
            </a:extLst>
          </p:cNvPr>
          <p:cNvSpPr>
            <a:spLocks xmlns:a="http://schemas.openxmlformats.org/drawingml/2006/main" noGrp="1"/>
          </p:cNvSpPr>
          <p:nvPr/>
        </p:nvSpPr>
        <p:spPr>
          <a:xfrm xmlns:a="http://schemas.openxmlformats.org/drawingml/2006/main">
            <a:off x="619125" y="3333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93D30"/>
                </a:solidFill>
                <a:latin typeface="Helvetica Neue"/>
                <a:ea typeface="Helvetica Neue"/>
                <a:cs typeface="Helvetica Neue"/>
              </a:defRPr>
            </a:pPr>
            <a:r>
              <a:rPr sz="2550" b="0">
                <a:solidFill>
                  <a:srgbClr val="193D30"/>
                </a:solidFill>
                <a:latin typeface="Helvetica Neue"/>
                <a:ea typeface="Helvetica Neue"/>
                <a:cs typeface="Helvetica Neue"/>
              </a:rPr>
              <a:t>Binding power terms</a:t>
            </a:r>
          </a:p>
        </p:txBody>
      </p:sp>
      <p:sp>
        <p:nvSpPr>
          <p:cNvPr id="6" name="">
            <a:extLst xmlns:a="http://schemas.openxmlformats.org/drawingml/2006/main">
              <a:ext uri="{FF2B5EF4-FFF2-40B4-BE49-F238E27FC236}">
                <a16:creationId xmlns:a16="http://schemas.microsoft.com/office/drawing/2014/main" id="{C87EA2B0-539F-4995-AA91-7A8646E23504}"/>
              </a:ext>
            </a:extLst>
          </p:cNvPr>
          <p:cNvSpPr>
            <a:spLocks xmlns:a="http://schemas.openxmlformats.org/drawingml/2006/main" noGrp="1"/>
          </p:cNvSpPr>
          <p:nvPr/>
        </p:nvSpPr>
        <p:spPr>
          <a:xfrm xmlns:a="http://schemas.openxmlformats.org/drawingml/2006/main">
            <a:off x="619125" y="40005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8766C"/>
                </a:solidFill>
                <a:latin typeface="Helvetica Neue"/>
                <a:ea typeface="Helvetica Neue"/>
                <a:cs typeface="Helvetica Neue"/>
              </a:defRPr>
            </a:pPr>
            <a:r>
              <a:rPr sz="2025" b="0">
                <a:solidFill>
                  <a:srgbClr val="68766C"/>
                </a:solidFill>
                <a:latin typeface="Helvetica Neue"/>
                <a:ea typeface="Helvetica Neue"/>
                <a:cs typeface="Helvetica Neue"/>
              </a:rPr>
              <a:t>Tariff, upgrade liability, energization date and outage tests</a:t>
            </a:r>
          </a:p>
        </p:txBody>
      </p:sp>
      <p:sp>
        <p:nvSpPr>
          <p:cNvPr id="7" name="">
            <a:extLst xmlns:a="http://schemas.openxmlformats.org/drawingml/2006/main">
              <a:ext uri="{FF2B5EF4-FFF2-40B4-BE49-F238E27FC236}">
                <a16:creationId xmlns:a16="http://schemas.microsoft.com/office/drawing/2014/main" id="{B1A88663-EB68-4DF9-8D88-E4557CEC7EB9}"/>
              </a:ext>
            </a:extLst>
          </p:cNvPr>
          <p:cNvSpPr>
            <a:spLocks xmlns:a="http://schemas.openxmlformats.org/drawingml/2006/main" noGrp="1"/>
          </p:cNvSpPr>
          <p:nvPr/>
        </p:nvSpPr>
        <p:spPr>
          <a:xfrm xmlns:a="http://schemas.openxmlformats.org/drawingml/2006/main">
            <a:off x="619125" y="48101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93D30"/>
                </a:solidFill>
                <a:latin typeface="Helvetica Neue"/>
                <a:ea typeface="Helvetica Neue"/>
                <a:cs typeface="Helvetica Neue"/>
              </a:defRPr>
            </a:pPr>
            <a:r>
              <a:rPr sz="2550" b="0">
                <a:solidFill>
                  <a:srgbClr val="193D30"/>
                </a:solidFill>
                <a:latin typeface="Helvetica Neue"/>
                <a:ea typeface="Helvetica Neue"/>
                <a:cs typeface="Helvetica Neue"/>
              </a:rPr>
              <a:t>Comparable supplier bids</a:t>
            </a:r>
          </a:p>
        </p:txBody>
      </p:sp>
      <p:sp>
        <p:nvSpPr>
          <p:cNvPr id="8" name="">
            <a:extLst xmlns:a="http://schemas.openxmlformats.org/drawingml/2006/main">
              <a:ext uri="{FF2B5EF4-FFF2-40B4-BE49-F238E27FC236}">
                <a16:creationId xmlns:a16="http://schemas.microsoft.com/office/drawing/2014/main" id="{98F60B2E-944D-4345-81DA-99FC8B41B425}"/>
              </a:ext>
            </a:extLst>
          </p:cNvPr>
          <p:cNvSpPr>
            <a:spLocks xmlns:a="http://schemas.openxmlformats.org/drawingml/2006/main" noGrp="1"/>
          </p:cNvSpPr>
          <p:nvPr/>
        </p:nvSpPr>
        <p:spPr>
          <a:xfrm xmlns:a="http://schemas.openxmlformats.org/drawingml/2006/main">
            <a:off x="619125" y="54768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8766C"/>
                </a:solidFill>
                <a:latin typeface="Helvetica Neue"/>
                <a:ea typeface="Helvetica Neue"/>
                <a:cs typeface="Helvetica Neue"/>
              </a:defRPr>
            </a:pPr>
            <a:r>
              <a:rPr sz="2025" b="0">
                <a:solidFill>
                  <a:srgbClr val="68766C"/>
                </a:solidFill>
                <a:latin typeface="Helvetica Neue"/>
                <a:ea typeface="Helvetica Neue"/>
                <a:cs typeface="Helvetica Neue"/>
              </a:rPr>
              <a:t>Hardware benchmarks, cloud scope, replacement and exit costs</a:t>
            </a:r>
          </a:p>
        </p:txBody>
      </p:sp>
    </p:spTree>
    <p:extLst>
      <p:ext uri="{BB962C8B-B14F-4D97-AF65-F5344CB8AC3E}">
        <p14:creationId xmlns:p14="http://schemas.microsoft.com/office/powerpoint/2010/main" val="15613663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2026-10-05T23:06:03.2360000Z</dcterms:created>
  <dcterms:modified xsi:type="dcterms:W3CDTF">2026-10-05T23:06:03.2360000Z</dcterms:modified>
</coreProperties>
</file>